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24384000" cy="13716000"/>
  <p:notesSz cx="6858000" cy="9144000"/>
  <p:embeddedFontLst>
    <p:embeddedFont>
      <p:font typeface="Tiro Tamil Regular"/>
      <p:regular r:id="rId18"/>
    </p:embeddedFont>
    <p:embeddedFont>
      <p:font typeface="Pretendard Medium"/>
      <p:bold r:id="rId19"/>
    </p:embeddedFont>
    <p:embeddedFont>
      <p:font typeface="Pretendard Light"/>
      <p:regular r:id="rId20"/>
    </p:embeddedFont>
    <p:embeddedFont>
      <p:font typeface="Pretendard Regular"/>
      <p:regular r:id="rId21"/>
    </p:embeddedFont>
    <p:embeddedFont>
      <p:font typeface="Pretendard Bold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37.png" Type="http://schemas.openxmlformats.org/officeDocument/2006/relationships/image"/><Relationship Id="rId7" Target="../media/image36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5399999">
            <a:off x="-2400300" y="7073900"/>
            <a:ext cx="13766800" cy="12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691100" y="12230100"/>
            <a:ext cx="6731000" cy="12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691100" y="13106400"/>
            <a:ext cx="67310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202900" y="1041400"/>
            <a:ext cx="5080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202900" y="1193800"/>
            <a:ext cx="5080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3202900" y="1346200"/>
            <a:ext cx="508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394200" y="4851400"/>
            <a:ext cx="203200" cy="2032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5270500" y="10566400"/>
            <a:ext cx="90170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SIMPLEST MMORPG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7780000" y="12649200"/>
            <a:ext cx="266700" cy="38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9773900" y="12484100"/>
            <a:ext cx="1587500" cy="406400"/>
          </a:xfrm>
          <a:prstGeom prst="rect">
            <a:avLst/>
          </a:prstGeom>
        </p:spPr>
        <p:txBody>
          <a:bodyPr anchor="t" rtlCol="false" lIns="0" tIns="28787" rIns="0" bIns="0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Tiro Tamil Regular"/>
                <a:ea typeface="Tiro Tamil Regular"/>
                <a:cs typeface="Tiro Tamil Regular"/>
              </a:rPr>
              <a:t>송준호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21300" y="12458700"/>
            <a:ext cx="1854200" cy="406400"/>
          </a:xfrm>
          <a:prstGeom prst="rect">
            <a:avLst/>
          </a:prstGeom>
        </p:spPr>
        <p:txBody>
          <a:bodyPr anchor="t" rtlCol="false" lIns="0" tIns="28787" rIns="0" bIns="0"/>
          <a:lstStyle/>
          <a:p>
            <a:pPr algn="l" lvl="0">
              <a:lnSpc>
                <a:spcPct val="99600"/>
              </a:lnSpc>
            </a:pPr>
            <a:r>
              <a:rPr lang="en-US" sz="2266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2021182019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70500" y="1676400"/>
            <a:ext cx="12522200" cy="2641600"/>
          </a:xfrm>
          <a:prstGeom prst="rect">
            <a:avLst/>
          </a:prstGeom>
        </p:spPr>
        <p:txBody>
          <a:bodyPr anchor="t" rtlCol="false" lIns="0" tIns="101600" rIns="0" bIns="0"/>
          <a:lstStyle/>
          <a:p>
            <a:pPr algn="l" lvl="0">
              <a:lnSpc>
                <a:spcPct val="99600"/>
              </a:lnSpc>
            </a:pPr>
            <a:r>
              <a:rPr lang="en-US" sz="8000" b="false" i="false" u="none" strike="noStrike">
                <a:solidFill>
                  <a:srgbClr val="000000"/>
                </a:solidFill>
                <a:latin typeface="Tiro Tamil Regular"/>
                <a:ea typeface="Tiro Tamil Regular"/>
                <a:cs typeface="Tiro Tamil Regular"/>
              </a:rPr>
              <a:t>게임 서버 프로그래밍</a:t>
            </a:r>
          </a:p>
          <a:p>
            <a:pPr algn="l" lvl="0">
              <a:lnSpc>
                <a:spcPct val="99600"/>
              </a:lnSpc>
            </a:pPr>
            <a:r>
              <a:rPr lang="en-US" sz="8000" b="false" i="false" u="none" strike="noStrike">
                <a:solidFill>
                  <a:srgbClr val="000000"/>
                </a:solidFill>
                <a:latin typeface="Tiro Tamil Regular"/>
                <a:ea typeface="Tiro Tamil Regular"/>
                <a:cs typeface="Tiro Tamil Regular"/>
              </a:rPr>
              <a:t>텀프로젝트 기획서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91200" y="3048000"/>
            <a:ext cx="17665700" cy="12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16000" y="3048000"/>
            <a:ext cx="4000500" cy="12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91200" y="7937500"/>
            <a:ext cx="176657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791200" y="12814300"/>
            <a:ext cx="176657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819900" y="7962900"/>
            <a:ext cx="97028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2712700" y="7962900"/>
            <a:ext cx="97028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2339999">
            <a:off x="17081500" y="10375900"/>
            <a:ext cx="6985000" cy="1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9260000">
            <a:off x="17081500" y="10375900"/>
            <a:ext cx="6985000" cy="127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6311900" y="3632200"/>
            <a:ext cx="2070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true" u="none" strike="noStrike">
                <a:solidFill>
                  <a:srgbClr val="FD6F22"/>
                </a:solidFill>
                <a:latin typeface="Pretendard Medium"/>
                <a:ea typeface="Pretendard Medium"/>
                <a:cs typeface="Pretendard Medium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11900" y="4292600"/>
            <a:ext cx="4965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기본 정보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311900" y="4965700"/>
            <a:ext cx="4953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서버구조, 컨테이너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92000" y="3632200"/>
            <a:ext cx="2070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true" u="none" strike="noStrike">
                <a:solidFill>
                  <a:srgbClr val="FD6F22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2000" y="4292600"/>
            <a:ext cx="4965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사용 소스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224500" y="3632200"/>
            <a:ext cx="2070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true" u="none" strike="noStrike">
                <a:solidFill>
                  <a:srgbClr val="FD6F22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224500" y="4292600"/>
            <a:ext cx="4965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맵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11900" y="8420100"/>
            <a:ext cx="2070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true" u="none" strike="noStrike">
                <a:solidFill>
                  <a:srgbClr val="FD6F22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11900" y="9080500"/>
            <a:ext cx="4965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11900" y="9766300"/>
            <a:ext cx="4953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플레이어, NPC, 몬스터 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92000" y="8420100"/>
            <a:ext cx="20701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533" b="false" i="true" u="none" strike="noStrike">
                <a:solidFill>
                  <a:srgbClr val="FD6F22"/>
                </a:solidFill>
                <a:latin typeface="Pretendard Medium"/>
                <a:ea typeface="Pretendard Medium"/>
                <a:cs typeface="Pretendard Medium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92000" y="9080500"/>
            <a:ext cx="4965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800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상호작용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192000" y="9766300"/>
            <a:ext cx="49530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Pretendard Light"/>
                <a:ea typeface="Pretendard Light"/>
                <a:cs typeface="Pretendard Light"/>
              </a:rPr>
              <a:t>대화, 전투 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5100" y="1562100"/>
            <a:ext cx="2578100" cy="520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기본 정보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4900" y="3251200"/>
            <a:ext cx="1092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서버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4343400"/>
            <a:ext cx="3060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네트워크 모델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8800" y="4330700"/>
            <a:ext cx="1371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IOCP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9500" y="5207000"/>
            <a:ext cx="2006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컨테이너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51500" y="5194300"/>
            <a:ext cx="8902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IntelTBB concurrent_unordered_map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6800" y="6096000"/>
            <a:ext cx="2006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프로토콜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38800" y="6096000"/>
            <a:ext cx="5168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Protocol_2026.h + @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800" y="7416800"/>
            <a:ext cx="2476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tru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클라이언트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800" y="8648700"/>
            <a:ext cx="3060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네트워크 모델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38800" y="8648700"/>
            <a:ext cx="4241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Non-Blocking I/O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4100" y="9601200"/>
            <a:ext cx="2006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프로토콜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26100" y="9588500"/>
            <a:ext cx="5168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Protocol_2026.h + @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400" y="10604500"/>
            <a:ext cx="2590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그래픽 모델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13400" y="10591800"/>
            <a:ext cx="3670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WinAPI + GDI+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562100"/>
            <a:ext cx="2603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 소스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302000"/>
            <a:ext cx="69088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2D 무료 스프라이트 이미지 활용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66800" y="4203700"/>
            <a:ext cx="5486400" cy="13716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8166100" y="3327400"/>
            <a:ext cx="10528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캐릭터, NPC, 몬스터, 맵 타일, 건물, 스킬, 효과 등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7874000"/>
            <a:ext cx="14312900" cy="1016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3500" y="9144000"/>
            <a:ext cx="14185900" cy="1181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47800" y="5854700"/>
            <a:ext cx="1422400" cy="1422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225800" y="5816600"/>
            <a:ext cx="15621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562100"/>
            <a:ext cx="2603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302000"/>
            <a:ext cx="4914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2000x2000 타일 맵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16000" y="4254500"/>
            <a:ext cx="3708400" cy="2959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16000" y="7302500"/>
            <a:ext cx="44831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29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40x32 - 1칸(클라이언트)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8077200"/>
            <a:ext cx="7899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1칸에 캐릭터 1개가 꽉 차게 위치한다.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918700" y="3517900"/>
            <a:ext cx="9715500" cy="971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931400" y="8356600"/>
            <a:ext cx="9702800" cy="50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-5399999">
            <a:off x="9918700" y="8356600"/>
            <a:ext cx="97155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49300" y="7086600"/>
            <a:ext cx="2692400" cy="2692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4325600" y="8001000"/>
            <a:ext cx="1079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마을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975670">
            <a:off x="14795500" y="7366000"/>
            <a:ext cx="9575800" cy="2032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20624800" y="8026400"/>
            <a:ext cx="14351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52200" y="10248900"/>
            <a:ext cx="23749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1단계 필드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230600" y="10287000"/>
            <a:ext cx="24511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2단계 필드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25200" y="5410200"/>
            <a:ext cx="2476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3단계 필드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294100" y="5422900"/>
            <a:ext cx="2476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4단계 필드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7900" y="9626600"/>
            <a:ext cx="7213600" cy="3695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마을에서 포탈을 타고 각 필드로 이동 가능</a:t>
            </a:r>
          </a:p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중심 카메라 이동</a:t>
            </a:r>
          </a:p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검은 선을 따라 산이 있어
레벨 조건을 충족하지 않으면 진입 불가</a:t>
            </a:r>
          </a:p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2973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필드마다 등장하는 몬스터와 환경이 변화한다.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8826500"/>
            <a:ext cx="6210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bool 2차원 배열로 판정 예정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562100"/>
            <a:ext cx="2603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맵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1200" y="3479800"/>
            <a:ext cx="1079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필드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3352800"/>
            <a:ext cx="2540000" cy="2540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19600" y="3352800"/>
            <a:ext cx="2540000" cy="254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23100" y="3340100"/>
            <a:ext cx="2540000" cy="254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90700" y="5956300"/>
            <a:ext cx="2540000" cy="2540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32300" y="5956300"/>
            <a:ext cx="2540000" cy="2540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035800" y="5956300"/>
            <a:ext cx="2540000" cy="2540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03400" y="8572500"/>
            <a:ext cx="2540000" cy="2540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19600" y="8559800"/>
            <a:ext cx="2540000" cy="2540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035800" y="8559800"/>
            <a:ext cx="2540000" cy="2540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9766300" y="3327400"/>
            <a:ext cx="11734800" cy="8229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필드를 약 9개 정도의 구역으로 나누어서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몬스터가 무리지어 있도록 한다.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포탈 근처의 몬스터는 건드리지 않으면 공격하지 않는다.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2000x2000 맵의 4개의 모서리에는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필드를 대표하는 보스 몬스터 던전이 존재한다.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던전 내부는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혼자 입장하거나 파티를 맺어 입장할 수 있다.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파티로 클리어 시 보상 1/n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9300" y="4445000"/>
            <a:ext cx="20828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보스 몬스터 던전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62900" y="9626600"/>
            <a:ext cx="6096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2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포탈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5100" y="1562100"/>
            <a:ext cx="2578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캐릭터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2006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플레이어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04900" y="3949700"/>
            <a:ext cx="8902700" cy="1485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155700" y="5410200"/>
            <a:ext cx="15544800" cy="598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상하좌우 + 대각선 8방향 이동 가능 (키보드 방향키)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1개의 클라이언트(계정)가 최대 2개의 캐릭터 정보를 저장하고 플레이 가능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캐릭터는 기본적으로 검을 사용하며,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레벨업으로 얻는 포인트로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특정 스킬트리를 따라 성장시킬 수 있다.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867900" y="7823200"/>
            <a:ext cx="5486400" cy="5486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293600" y="10236200"/>
            <a:ext cx="622300" cy="622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979400" y="10337800"/>
            <a:ext cx="381000" cy="3810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23700" y="10325100"/>
            <a:ext cx="381000" cy="3810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087100" y="10274300"/>
            <a:ext cx="622300" cy="62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49300" y="10236200"/>
            <a:ext cx="6223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8900000">
            <a:off x="10528300" y="10337800"/>
            <a:ext cx="508000" cy="508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07600" y="9613900"/>
            <a:ext cx="622300" cy="622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007600" y="10934700"/>
            <a:ext cx="622300" cy="6223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8100000">
            <a:off x="14109700" y="10299700"/>
            <a:ext cx="508000" cy="508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516100" y="9601200"/>
            <a:ext cx="622300" cy="6223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503400" y="10858500"/>
            <a:ext cx="622300" cy="6223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16200000">
            <a:off x="12407900" y="9791700"/>
            <a:ext cx="381000" cy="381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12319000" y="9080500"/>
            <a:ext cx="622300" cy="6223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2700000">
            <a:off x="12382500" y="8534400"/>
            <a:ext cx="508000" cy="5080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11671300" y="8013700"/>
            <a:ext cx="622300" cy="6223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16200000">
            <a:off x="12941300" y="8026400"/>
            <a:ext cx="622300" cy="6223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12420600" y="10934700"/>
            <a:ext cx="381000" cy="3810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2280900" y="11404600"/>
            <a:ext cx="622300" cy="6223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13500000">
            <a:off x="12331700" y="12065000"/>
            <a:ext cx="508000" cy="5080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2915900" y="12484100"/>
            <a:ext cx="622300" cy="6223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1645900" y="12458700"/>
            <a:ext cx="622300" cy="6223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5824200" y="9448800"/>
            <a:ext cx="8382000" cy="2247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5레벨마다 1칸 습득 가능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1칸마다 새로운 스킬 1개 습득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맨 끝의 스킬이 캐릭터 특징 정의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5100" y="1562100"/>
            <a:ext cx="2578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캐릭터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2006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플레이어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79500" y="4787900"/>
            <a:ext cx="5486400" cy="5486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3492500" y="5435600"/>
            <a:ext cx="622300" cy="622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508000" y="6845300"/>
            <a:ext cx="2095500" cy="622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3149600" y="6400800"/>
            <a:ext cx="1371600" cy="1371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117600" y="3898900"/>
            <a:ext cx="1549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장비창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851400" y="6654800"/>
            <a:ext cx="622300" cy="622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2794000" y="8877300"/>
            <a:ext cx="1282700" cy="622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3695700" y="8877300"/>
            <a:ext cx="1282700" cy="622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905000" y="7073900"/>
            <a:ext cx="1282700" cy="622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05300" y="5651500"/>
            <a:ext cx="2654300" cy="13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7086600" y="5397500"/>
            <a:ext cx="9525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투구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648200" y="7454900"/>
            <a:ext cx="2654300" cy="139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7429500" y="7188200"/>
            <a:ext cx="9525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갑옷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651500" y="6896100"/>
            <a:ext cx="2654300" cy="139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8496300" y="6667500"/>
            <a:ext cx="9525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반지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009900" y="7874000"/>
            <a:ext cx="6223000" cy="139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9436100" y="7594600"/>
            <a:ext cx="9525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장갑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06600" y="6159500"/>
            <a:ext cx="6223000" cy="1397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8356600" y="5943600"/>
            <a:ext cx="952500" cy="647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674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무기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09300" y="4838700"/>
            <a:ext cx="13398500" cy="5981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E키를 눌러 장비창 UI 사용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부위별 장비 착용이 가능하며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장비마다 능력치의 차이가 존재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부위별 장비 3종류 구현 예정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보스 몬스터 처치 시 특수 스킬(능력치 % 증가 or 패시브 스킬)이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있는 장비 확률적 드롭 구현 예정 - 각 보스 당 1종류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5100" y="1562100"/>
            <a:ext cx="2578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캐릭터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1549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몬스터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1400" y="4114800"/>
            <a:ext cx="12877800" cy="7480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각 필드마다 2종류의 몬스터 + 1종류의 보스 몬스터 구현 예정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몬스터는 1종류의 공격 패턴을 가지고 있으며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보스 몬스터는 2종류 이상의 공격 패턴 구현 예정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&gt; 몬스터 8종류, 보스 몬스터 4종류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경험치 = 몬스터 레벨^2 x 2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로밍 몬스터여도 범위를 구역 내부로 제한할 예정으로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로밍 몬스터 추가 경험치 X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어그로 몬스터 = 경험치 x 2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875500" y="6972300"/>
            <a:ext cx="1282700" cy="1282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189200" y="7277100"/>
            <a:ext cx="4724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어그로 준비 범위 진입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913600" y="9994900"/>
            <a:ext cx="1257300" cy="12573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205200" y="10185400"/>
            <a:ext cx="30734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 인식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7259300" y="9029700"/>
            <a:ext cx="800100" cy="139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919200" y="5981700"/>
            <a:ext cx="9156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플레이어의 시야 범위 &gt; 몬스터 어그로 범위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35100" y="1562100"/>
            <a:ext cx="25781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캐릭터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1257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NPC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962400"/>
            <a:ext cx="17424400" cy="673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마을 내부, 필드 당 1~2명의 NPC 존재 - 퀘스트, 대화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수행 가능한 퀘스트가 존재할 경우 NPC 머리 위에 아이콘 표시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완료 가능한 퀘스트가 존재할 경우 NPC 머리 위에 아이콘 표시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Q키로 퀘스트 UI를 띄워 현재 수행중인 퀘스트 상세정보를 볼 수 있게 구현 예정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퀘스트 종류는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특정 몬스터 N마리 처리, 특정 보스 몬스터 처치, 특정 레벨 달성 등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562100"/>
            <a:ext cx="2603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상호작용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1092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대화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962400"/>
            <a:ext cx="21285200" cy="4483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대화는 대화가 가능한 NPC 근처(1칸 이내)에 다가가 마우스 좌클릭하여 진행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마우스 좌클릭으로 대화 진행이 가능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필드에 1~2개 정도의 이스터에그 만들 예정 (길가에 있는 나무에 대화 가능 아이콘 표시 등)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3F2F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155700"/>
            <a:ext cx="4445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295400"/>
            <a:ext cx="444500" cy="2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2847300" y="1422400"/>
            <a:ext cx="444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638800" y="3048000"/>
            <a:ext cx="17665700" cy="12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79500" y="3048000"/>
            <a:ext cx="4000500" cy="12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25400" y="0"/>
            <a:ext cx="24409400" cy="381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22400" y="1562100"/>
            <a:ext cx="2603500" cy="46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666" b="false" i="true" u="none" strike="noStrike">
                <a:solidFill>
                  <a:srgbClr val="FD6F22"/>
                </a:solidFill>
                <a:latin typeface="Tiro Tamil Regular"/>
                <a:ea typeface="Tiro Tamil Regular"/>
                <a:cs typeface="Tiro Tamil Regular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35100" y="2146300"/>
            <a:ext cx="3771900" cy="59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333" b="false" i="false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상호작용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9500" y="3124200"/>
            <a:ext cx="1092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10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전투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6800" y="3949700"/>
            <a:ext cx="17614900" cy="972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전투는 필드에서 어떠한 상황이어도(UI 띄운 상태 등) 진행된다.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캐릭터가 바라보는 정면방향 기준 좌우 90도 까지 공격 범위 (360도 중 절반만 히트)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캐릭터나 적이 데미지를 입었을 경우 데미지 숫자가 해당 개체 몸 위에 출력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좌하단 채팅창에 전투 로그가 실시간으로 출력되며,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캐릭터의 체력은 좌상단 정보 UI에 표시.
전투 중에는 자동 회복이 적용되지 않고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숫자키에 물약을 할당하여 사용 가능. (쿨타임 5초)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물약 또한 레벨에 따라 사용 가능 여부와 회복량이 달라진다. (3종류 구현 예정)</a:t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스킬은 알파벳 키에 할당하여 사용 가능하고 쿨타임이 화면 우측 중단에 표시된다.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